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" name="Shape 9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67467" y="2630209"/>
            <a:ext cx="5239465" cy="296906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1"/>
          <p:cNvSpPr txBox="1"/>
          <p:nvPr/>
        </p:nvSpPr>
        <p:spPr>
          <a:xfrm>
            <a:off x="864036" y="1356121"/>
            <a:ext cx="7415929" cy="1511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000"/>
              </a:lnSpc>
              <a:defRPr sz="4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Airline Ticket Booking System</a:t>
            </a:r>
          </a:p>
        </p:txBody>
      </p:sp>
      <p:sp>
        <p:nvSpPr>
          <p:cNvPr id="104" name="Text 2"/>
          <p:cNvSpPr txBox="1"/>
          <p:nvPr/>
        </p:nvSpPr>
        <p:spPr>
          <a:xfrm>
            <a:off x="864036" y="3269455"/>
            <a:ext cx="4210709" cy="370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Database Management System Project</a:t>
            </a:r>
          </a:p>
        </p:txBody>
      </p:sp>
      <p:sp>
        <p:nvSpPr>
          <p:cNvPr id="105" name="Shape 3"/>
          <p:cNvSpPr/>
          <p:nvPr/>
        </p:nvSpPr>
        <p:spPr>
          <a:xfrm>
            <a:off x="864036" y="4003833"/>
            <a:ext cx="7415929" cy="18456"/>
          </a:xfrm>
          <a:prstGeom prst="rect">
            <a:avLst/>
          </a:prstGeom>
          <a:solidFill>
            <a:srgbClr val="3C3939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4"/>
          <p:cNvSpPr txBox="1"/>
          <p:nvPr/>
        </p:nvSpPr>
        <p:spPr>
          <a:xfrm>
            <a:off x="864036" y="4361617"/>
            <a:ext cx="1416554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Project Team</a:t>
            </a:r>
          </a:p>
        </p:txBody>
      </p:sp>
      <p:sp>
        <p:nvSpPr>
          <p:cNvPr id="107" name="Text 5"/>
          <p:cNvSpPr txBox="1"/>
          <p:nvPr/>
        </p:nvSpPr>
        <p:spPr>
          <a:xfrm>
            <a:off x="864036" y="5034319"/>
            <a:ext cx="7415929" cy="1551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Jyoti Basu — 2410030205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Sneha Singh — 2410030073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Priyanshi Varshney — 2410030338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Maahi Agarwal — 2410030319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 txBox="1"/>
          <p:nvPr/>
        </p:nvSpPr>
        <p:spPr>
          <a:xfrm>
            <a:off x="864036" y="2152412"/>
            <a:ext cx="3198219" cy="749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6000"/>
              </a:lnSpc>
              <a:defRPr sz="4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10" name="Shape 1"/>
          <p:cNvSpPr/>
          <p:nvPr/>
        </p:nvSpPr>
        <p:spPr>
          <a:xfrm>
            <a:off x="864036" y="3417689"/>
            <a:ext cx="4136232" cy="2659380"/>
          </a:xfrm>
          <a:prstGeom prst="roundRect">
            <a:avLst>
              <a:gd name="adj" fmla="val 550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Shape 2"/>
          <p:cNvSpPr/>
          <p:nvPr/>
        </p:nvSpPr>
        <p:spPr>
          <a:xfrm>
            <a:off x="833556" y="3417689"/>
            <a:ext cx="121921" cy="2659380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3"/>
          <p:cNvSpPr txBox="1"/>
          <p:nvPr/>
        </p:nvSpPr>
        <p:spPr>
          <a:xfrm>
            <a:off x="1232773" y="3694986"/>
            <a:ext cx="1435497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What is it?</a:t>
            </a:r>
          </a:p>
        </p:txBody>
      </p:sp>
      <p:sp>
        <p:nvSpPr>
          <p:cNvPr id="113" name="Text 4"/>
          <p:cNvSpPr txBox="1"/>
          <p:nvPr/>
        </p:nvSpPr>
        <p:spPr>
          <a:xfrm>
            <a:off x="1232773" y="4228862"/>
            <a:ext cx="3490198" cy="1157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 relational database designed to manage flight bookings end-to-end.</a:t>
            </a:r>
          </a:p>
        </p:txBody>
      </p:sp>
      <p:sp>
        <p:nvSpPr>
          <p:cNvPr id="114" name="Shape 5"/>
          <p:cNvSpPr/>
          <p:nvPr/>
        </p:nvSpPr>
        <p:spPr>
          <a:xfrm>
            <a:off x="5247083" y="3417689"/>
            <a:ext cx="4136232" cy="2659380"/>
          </a:xfrm>
          <a:prstGeom prst="roundRect">
            <a:avLst>
              <a:gd name="adj" fmla="val 550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Shape 6"/>
          <p:cNvSpPr/>
          <p:nvPr/>
        </p:nvSpPr>
        <p:spPr>
          <a:xfrm>
            <a:off x="5216604" y="3417689"/>
            <a:ext cx="121921" cy="2659380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7"/>
          <p:cNvSpPr txBox="1"/>
          <p:nvPr/>
        </p:nvSpPr>
        <p:spPr>
          <a:xfrm>
            <a:off x="5615821" y="3694986"/>
            <a:ext cx="2638624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What does it store?</a:t>
            </a:r>
          </a:p>
        </p:txBody>
      </p:sp>
      <p:sp>
        <p:nvSpPr>
          <p:cNvPr id="117" name="Text 8"/>
          <p:cNvSpPr txBox="1"/>
          <p:nvPr/>
        </p:nvSpPr>
        <p:spPr>
          <a:xfrm>
            <a:off x="5615821" y="4228862"/>
            <a:ext cx="3490198" cy="1157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User details, flight information, airline data, ticket bookings, and payment records.</a:t>
            </a:r>
          </a:p>
        </p:txBody>
      </p:sp>
      <p:sp>
        <p:nvSpPr>
          <p:cNvPr id="118" name="Shape 9"/>
          <p:cNvSpPr/>
          <p:nvPr/>
        </p:nvSpPr>
        <p:spPr>
          <a:xfrm>
            <a:off x="9630132" y="3417689"/>
            <a:ext cx="4136232" cy="2659380"/>
          </a:xfrm>
          <a:prstGeom prst="roundRect">
            <a:avLst>
              <a:gd name="adj" fmla="val 550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10"/>
          <p:cNvSpPr/>
          <p:nvPr/>
        </p:nvSpPr>
        <p:spPr>
          <a:xfrm>
            <a:off x="9599652" y="3417689"/>
            <a:ext cx="121921" cy="2659380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11"/>
          <p:cNvSpPr txBox="1"/>
          <p:nvPr/>
        </p:nvSpPr>
        <p:spPr>
          <a:xfrm>
            <a:off x="9998868" y="3694986"/>
            <a:ext cx="3490198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DBMS Concepts Covered</a:t>
            </a:r>
          </a:p>
        </p:txBody>
      </p:sp>
      <p:sp>
        <p:nvSpPr>
          <p:cNvPr id="121" name="Text 12"/>
          <p:cNvSpPr txBox="1"/>
          <p:nvPr/>
        </p:nvSpPr>
        <p:spPr>
          <a:xfrm>
            <a:off x="9998868" y="4614624"/>
            <a:ext cx="3490198" cy="1157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Tables, relationships, primary keys, foreign keys, and normalisation.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 txBox="1"/>
          <p:nvPr/>
        </p:nvSpPr>
        <p:spPr>
          <a:xfrm>
            <a:off x="864036" y="1215865"/>
            <a:ext cx="3332462" cy="749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6000"/>
              </a:lnSpc>
              <a:defRPr sz="4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ER Diagram</a:t>
            </a:r>
          </a:p>
        </p:txBody>
      </p:sp>
      <p:sp>
        <p:nvSpPr>
          <p:cNvPr id="124" name="Text 1"/>
          <p:cNvSpPr txBox="1"/>
          <p:nvPr/>
        </p:nvSpPr>
        <p:spPr>
          <a:xfrm>
            <a:off x="864036" y="2481142"/>
            <a:ext cx="8891670" cy="370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The ER diagram below represents the entities and their relationships in the system.</a:t>
            </a:r>
          </a:p>
        </p:txBody>
      </p:sp>
      <p:sp>
        <p:nvSpPr>
          <p:cNvPr id="125" name="Shape 2"/>
          <p:cNvSpPr/>
          <p:nvPr/>
        </p:nvSpPr>
        <p:spPr>
          <a:xfrm>
            <a:off x="864036" y="3153847"/>
            <a:ext cx="6327697" cy="3859887"/>
          </a:xfrm>
          <a:prstGeom prst="roundRect">
            <a:avLst>
              <a:gd name="adj" fmla="val 2686"/>
            </a:avLst>
          </a:prstGeom>
          <a:solidFill>
            <a:srgbClr val="E1E1EA"/>
          </a:solidFill>
          <a:ln w="1524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3"/>
          <p:cNvSpPr txBox="1"/>
          <p:nvPr/>
        </p:nvSpPr>
        <p:spPr>
          <a:xfrm>
            <a:off x="1126092" y="3415903"/>
            <a:ext cx="1012231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Entities</a:t>
            </a:r>
          </a:p>
        </p:txBody>
      </p:sp>
      <p:sp>
        <p:nvSpPr>
          <p:cNvPr id="127" name="Text 4"/>
          <p:cNvSpPr txBox="1"/>
          <p:nvPr/>
        </p:nvSpPr>
        <p:spPr>
          <a:xfrm>
            <a:off x="1126092" y="3949779"/>
            <a:ext cx="5803584" cy="2338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User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Flight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Airline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Ticket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Class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Payment</a:t>
            </a:r>
          </a:p>
        </p:txBody>
      </p:sp>
      <p:sp>
        <p:nvSpPr>
          <p:cNvPr id="128" name="Shape 5"/>
          <p:cNvSpPr/>
          <p:nvPr/>
        </p:nvSpPr>
        <p:spPr>
          <a:xfrm>
            <a:off x="7438549" y="3153847"/>
            <a:ext cx="6327815" cy="3859887"/>
          </a:xfrm>
          <a:prstGeom prst="roundRect">
            <a:avLst>
              <a:gd name="adj" fmla="val 2686"/>
            </a:avLst>
          </a:prstGeom>
          <a:solidFill>
            <a:srgbClr val="E1E1EA"/>
          </a:solidFill>
          <a:ln w="1524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6"/>
          <p:cNvSpPr txBox="1"/>
          <p:nvPr/>
        </p:nvSpPr>
        <p:spPr>
          <a:xfrm>
            <a:off x="7700605" y="3415903"/>
            <a:ext cx="1842542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Relationships</a:t>
            </a:r>
          </a:p>
        </p:txBody>
      </p:sp>
      <p:sp>
        <p:nvSpPr>
          <p:cNvPr id="130" name="Text 7"/>
          <p:cNvSpPr txBox="1"/>
          <p:nvPr/>
        </p:nvSpPr>
        <p:spPr>
          <a:xfrm>
            <a:off x="7700605" y="3949779"/>
            <a:ext cx="5803703" cy="1945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User </a:t>
            </a:r>
            <a:r>
              <a:rPr>
                <a:solidFill>
                  <a:srgbClr val="000000"/>
                </a:solidFill>
              </a:rPr>
              <a:t>↔</a:t>
            </a:r>
            <a:r>
              <a:t> Ticket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Ticket </a:t>
            </a:r>
            <a:r>
              <a:rPr>
                <a:solidFill>
                  <a:srgbClr val="000000"/>
                </a:solidFill>
              </a:rPr>
              <a:t>↔</a:t>
            </a:r>
            <a:r>
              <a:t> Flight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Flight </a:t>
            </a:r>
            <a:r>
              <a:rPr>
                <a:solidFill>
                  <a:srgbClr val="000000"/>
                </a:solidFill>
              </a:rPr>
              <a:t>↔</a:t>
            </a:r>
            <a:r>
              <a:t> Airline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Ticket </a:t>
            </a:r>
            <a:r>
              <a:rPr>
                <a:solidFill>
                  <a:srgbClr val="000000"/>
                </a:solidFill>
              </a:rPr>
              <a:t>↔</a:t>
            </a:r>
            <a:r>
              <a:t> Class</a:t>
            </a:r>
          </a:p>
          <a:p>
            <a:pPr marL="342899" indent="-342899">
              <a:lnSpc>
                <a:spcPts val="3100"/>
              </a:lnSpc>
              <a:buSzPct val="100000"/>
              <a:buChar char="•"/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Ticket </a:t>
            </a:r>
            <a:r>
              <a:rPr>
                <a:solidFill>
                  <a:srgbClr val="000000"/>
                </a:solidFill>
              </a:rPr>
              <a:t>↔</a:t>
            </a:r>
            <a:r>
              <a:t> Payment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Screenshot 2026-04-28 at 10.46.08 PM.png" descr="Screenshot 2026-04-28 at 10.46.0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95779" y="1054544"/>
            <a:ext cx="10178283" cy="7171931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ER Diagram"/>
          <p:cNvSpPr txBox="1"/>
          <p:nvPr/>
        </p:nvSpPr>
        <p:spPr>
          <a:xfrm>
            <a:off x="6342922" y="35286"/>
            <a:ext cx="2524799" cy="803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6000"/>
              </a:lnSpc>
              <a:defRPr sz="35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ER Diagram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 txBox="1"/>
          <p:nvPr/>
        </p:nvSpPr>
        <p:spPr>
          <a:xfrm>
            <a:off x="864036" y="948333"/>
            <a:ext cx="4721623" cy="749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6000"/>
              </a:lnSpc>
              <a:defRPr sz="4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Entities Overview</a:t>
            </a:r>
          </a:p>
        </p:txBody>
      </p:sp>
      <p:sp>
        <p:nvSpPr>
          <p:cNvPr id="136" name="Shape 1"/>
          <p:cNvSpPr/>
          <p:nvPr/>
        </p:nvSpPr>
        <p:spPr>
          <a:xfrm>
            <a:off x="864036" y="2213610"/>
            <a:ext cx="12902329" cy="5067539"/>
          </a:xfrm>
          <a:prstGeom prst="roundRect">
            <a:avLst>
              <a:gd name="adj" fmla="val 2046"/>
            </a:avLst>
          </a:prstGeom>
          <a:ln w="15240">
            <a:solidFill>
              <a:srgbClr val="000000">
                <a:alpha val="8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2"/>
          <p:cNvSpPr txBox="1"/>
          <p:nvPr/>
        </p:nvSpPr>
        <p:spPr>
          <a:xfrm>
            <a:off x="1126092" y="2384583"/>
            <a:ext cx="682992" cy="370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b="1"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Entity</a:t>
            </a:r>
          </a:p>
        </p:txBody>
      </p:sp>
      <p:sp>
        <p:nvSpPr>
          <p:cNvPr id="138" name="Text 3"/>
          <p:cNvSpPr txBox="1"/>
          <p:nvPr/>
        </p:nvSpPr>
        <p:spPr>
          <a:xfrm>
            <a:off x="3708081" y="2384583"/>
            <a:ext cx="1152160" cy="370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b="1"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Attributes</a:t>
            </a:r>
          </a:p>
        </p:txBody>
      </p:sp>
      <p:sp>
        <p:nvSpPr>
          <p:cNvPr id="139" name="Text 4"/>
          <p:cNvSpPr txBox="1"/>
          <p:nvPr/>
        </p:nvSpPr>
        <p:spPr>
          <a:xfrm>
            <a:off x="1126092" y="3106341"/>
            <a:ext cx="683110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140" name="Text 5"/>
          <p:cNvSpPr txBox="1"/>
          <p:nvPr/>
        </p:nvSpPr>
        <p:spPr>
          <a:xfrm>
            <a:off x="3708081" y="3106341"/>
            <a:ext cx="2574511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user_id, name, dob, city</a:t>
            </a:r>
          </a:p>
        </p:txBody>
      </p:sp>
      <p:sp>
        <p:nvSpPr>
          <p:cNvPr id="141" name="Text 6"/>
          <p:cNvSpPr txBox="1"/>
          <p:nvPr/>
        </p:nvSpPr>
        <p:spPr>
          <a:xfrm>
            <a:off x="1126092" y="3828098"/>
            <a:ext cx="870683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FLIGHT</a:t>
            </a:r>
          </a:p>
        </p:txBody>
      </p:sp>
      <p:sp>
        <p:nvSpPr>
          <p:cNvPr id="142" name="Text 7"/>
          <p:cNvSpPr txBox="1"/>
          <p:nvPr/>
        </p:nvSpPr>
        <p:spPr>
          <a:xfrm>
            <a:off x="3708081" y="3828098"/>
            <a:ext cx="5230343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flight_no, source, destination, dep_time, arr_time</a:t>
            </a:r>
          </a:p>
        </p:txBody>
      </p:sp>
      <p:sp>
        <p:nvSpPr>
          <p:cNvPr id="143" name="Text 8"/>
          <p:cNvSpPr txBox="1"/>
          <p:nvPr/>
        </p:nvSpPr>
        <p:spPr>
          <a:xfrm>
            <a:off x="1126092" y="4549854"/>
            <a:ext cx="951391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AIRLINE</a:t>
            </a:r>
          </a:p>
        </p:txBody>
      </p:sp>
      <p:sp>
        <p:nvSpPr>
          <p:cNvPr id="144" name="Text 9"/>
          <p:cNvSpPr txBox="1"/>
          <p:nvPr/>
        </p:nvSpPr>
        <p:spPr>
          <a:xfrm>
            <a:off x="3708081" y="4549854"/>
            <a:ext cx="2494156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airline_id, airline_name</a:t>
            </a:r>
          </a:p>
        </p:txBody>
      </p:sp>
      <p:sp>
        <p:nvSpPr>
          <p:cNvPr id="145" name="Text 10"/>
          <p:cNvSpPr txBox="1"/>
          <p:nvPr/>
        </p:nvSpPr>
        <p:spPr>
          <a:xfrm>
            <a:off x="1126092" y="5271611"/>
            <a:ext cx="870683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TICKET</a:t>
            </a:r>
          </a:p>
        </p:txBody>
      </p:sp>
      <p:sp>
        <p:nvSpPr>
          <p:cNvPr id="146" name="Text 11"/>
          <p:cNvSpPr txBox="1"/>
          <p:nvPr/>
        </p:nvSpPr>
        <p:spPr>
          <a:xfrm>
            <a:off x="3708081" y="5271611"/>
            <a:ext cx="5512409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pnr_no, user_id, flight_no, class_id, seat_no, status</a:t>
            </a:r>
          </a:p>
        </p:txBody>
      </p:sp>
      <p:sp>
        <p:nvSpPr>
          <p:cNvPr id="147" name="Text 12"/>
          <p:cNvSpPr txBox="1"/>
          <p:nvPr/>
        </p:nvSpPr>
        <p:spPr>
          <a:xfrm>
            <a:off x="1126092" y="5993367"/>
            <a:ext cx="803996" cy="370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CLASS</a:t>
            </a:r>
          </a:p>
        </p:txBody>
      </p:sp>
      <p:sp>
        <p:nvSpPr>
          <p:cNvPr id="148" name="Text 13"/>
          <p:cNvSpPr txBox="1"/>
          <p:nvPr/>
        </p:nvSpPr>
        <p:spPr>
          <a:xfrm>
            <a:off x="3708081" y="5993367"/>
            <a:ext cx="2708475" cy="370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class_id, class_type, fare</a:t>
            </a:r>
          </a:p>
        </p:txBody>
      </p:sp>
      <p:sp>
        <p:nvSpPr>
          <p:cNvPr id="149" name="Text 14"/>
          <p:cNvSpPr txBox="1"/>
          <p:nvPr/>
        </p:nvSpPr>
        <p:spPr>
          <a:xfrm>
            <a:off x="1126092" y="6715125"/>
            <a:ext cx="1143560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PAYMENT</a:t>
            </a:r>
          </a:p>
        </p:txBody>
      </p:sp>
      <p:sp>
        <p:nvSpPr>
          <p:cNvPr id="150" name="Text 15"/>
          <p:cNvSpPr txBox="1"/>
          <p:nvPr/>
        </p:nvSpPr>
        <p:spPr>
          <a:xfrm>
            <a:off x="3708081" y="6715125"/>
            <a:ext cx="5136792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transaction_id, pnr_no, amount, payment_mode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 txBox="1"/>
          <p:nvPr/>
        </p:nvSpPr>
        <p:spPr>
          <a:xfrm>
            <a:off x="1598175" y="643651"/>
            <a:ext cx="5931633" cy="61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900"/>
              </a:lnSpc>
              <a:defRPr sz="39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Relationships &amp; Cardinality</a:t>
            </a:r>
          </a:p>
        </p:txBody>
      </p:sp>
      <p:sp>
        <p:nvSpPr>
          <p:cNvPr id="153" name="Shape 1"/>
          <p:cNvSpPr/>
          <p:nvPr/>
        </p:nvSpPr>
        <p:spPr>
          <a:xfrm>
            <a:off x="1598175" y="1999177"/>
            <a:ext cx="4518423" cy="1491973"/>
          </a:xfrm>
          <a:prstGeom prst="roundRect">
            <a:avLst>
              <a:gd name="adj" fmla="val 7355"/>
            </a:avLst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Shape 2"/>
          <p:cNvSpPr/>
          <p:nvPr/>
        </p:nvSpPr>
        <p:spPr>
          <a:xfrm>
            <a:off x="1598175" y="1976317"/>
            <a:ext cx="4518423" cy="91441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Shape 3"/>
          <p:cNvSpPr/>
          <p:nvPr/>
        </p:nvSpPr>
        <p:spPr>
          <a:xfrm>
            <a:off x="3556515" y="1698307"/>
            <a:ext cx="601743" cy="601743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4"/>
          <p:cNvSpPr txBox="1"/>
          <p:nvPr/>
        </p:nvSpPr>
        <p:spPr>
          <a:xfrm>
            <a:off x="1821537" y="2500670"/>
            <a:ext cx="1528013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User → Ticket</a:t>
            </a:r>
          </a:p>
        </p:txBody>
      </p:sp>
      <p:sp>
        <p:nvSpPr>
          <p:cNvPr id="157" name="Text 5"/>
          <p:cNvSpPr txBox="1"/>
          <p:nvPr/>
        </p:nvSpPr>
        <p:spPr>
          <a:xfrm>
            <a:off x="1821537" y="2976920"/>
            <a:ext cx="436117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1 : M</a:t>
            </a:r>
          </a:p>
        </p:txBody>
      </p:sp>
      <p:sp>
        <p:nvSpPr>
          <p:cNvPr id="158" name="Shape 6"/>
          <p:cNvSpPr/>
          <p:nvPr/>
        </p:nvSpPr>
        <p:spPr>
          <a:xfrm>
            <a:off x="1598175" y="3954898"/>
            <a:ext cx="4518423" cy="1491973"/>
          </a:xfrm>
          <a:prstGeom prst="roundRect">
            <a:avLst>
              <a:gd name="adj" fmla="val 7355"/>
            </a:avLst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Shape 7"/>
          <p:cNvSpPr/>
          <p:nvPr/>
        </p:nvSpPr>
        <p:spPr>
          <a:xfrm>
            <a:off x="1598175" y="3932039"/>
            <a:ext cx="4518423" cy="91441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Shape 8"/>
          <p:cNvSpPr/>
          <p:nvPr/>
        </p:nvSpPr>
        <p:spPr>
          <a:xfrm>
            <a:off x="3556515" y="3654028"/>
            <a:ext cx="601743" cy="601743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9"/>
          <p:cNvSpPr txBox="1"/>
          <p:nvPr/>
        </p:nvSpPr>
        <p:spPr>
          <a:xfrm>
            <a:off x="1821537" y="4456390"/>
            <a:ext cx="1612845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Ticket → Flight</a:t>
            </a:r>
          </a:p>
        </p:txBody>
      </p:sp>
      <p:sp>
        <p:nvSpPr>
          <p:cNvPr id="162" name="Text 10"/>
          <p:cNvSpPr txBox="1"/>
          <p:nvPr/>
        </p:nvSpPr>
        <p:spPr>
          <a:xfrm>
            <a:off x="1821537" y="4932640"/>
            <a:ext cx="436117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M : 1</a:t>
            </a:r>
          </a:p>
        </p:txBody>
      </p:sp>
      <p:sp>
        <p:nvSpPr>
          <p:cNvPr id="163" name="Shape 11"/>
          <p:cNvSpPr/>
          <p:nvPr/>
        </p:nvSpPr>
        <p:spPr>
          <a:xfrm>
            <a:off x="1598175" y="5910619"/>
            <a:ext cx="4518423" cy="1491973"/>
          </a:xfrm>
          <a:prstGeom prst="roundRect">
            <a:avLst>
              <a:gd name="adj" fmla="val 7355"/>
            </a:avLst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Shape 12"/>
          <p:cNvSpPr/>
          <p:nvPr/>
        </p:nvSpPr>
        <p:spPr>
          <a:xfrm>
            <a:off x="1598175" y="5887759"/>
            <a:ext cx="4518423" cy="91441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13"/>
          <p:cNvSpPr/>
          <p:nvPr/>
        </p:nvSpPr>
        <p:spPr>
          <a:xfrm>
            <a:off x="3556515" y="5609749"/>
            <a:ext cx="601743" cy="601743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4"/>
          <p:cNvSpPr txBox="1"/>
          <p:nvPr/>
        </p:nvSpPr>
        <p:spPr>
          <a:xfrm>
            <a:off x="1821537" y="6412110"/>
            <a:ext cx="1635467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Flight → Airline</a:t>
            </a:r>
          </a:p>
        </p:txBody>
      </p:sp>
      <p:sp>
        <p:nvSpPr>
          <p:cNvPr id="167" name="Text 15"/>
          <p:cNvSpPr txBox="1"/>
          <p:nvPr/>
        </p:nvSpPr>
        <p:spPr>
          <a:xfrm>
            <a:off x="1821537" y="6888360"/>
            <a:ext cx="436117" cy="267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M : 1</a:t>
            </a:r>
          </a:p>
        </p:txBody>
      </p:sp>
      <p:sp>
        <p:nvSpPr>
          <p:cNvPr id="168" name="Shape 16"/>
          <p:cNvSpPr/>
          <p:nvPr/>
        </p:nvSpPr>
        <p:spPr>
          <a:xfrm>
            <a:off x="6613565" y="1999177"/>
            <a:ext cx="6426042" cy="1491973"/>
          </a:xfrm>
          <a:prstGeom prst="roundRect">
            <a:avLst>
              <a:gd name="adj" fmla="val 7355"/>
            </a:avLst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Shape 17"/>
          <p:cNvSpPr/>
          <p:nvPr/>
        </p:nvSpPr>
        <p:spPr>
          <a:xfrm>
            <a:off x="6613565" y="1976317"/>
            <a:ext cx="6426042" cy="91441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Shape 18"/>
          <p:cNvSpPr/>
          <p:nvPr/>
        </p:nvSpPr>
        <p:spPr>
          <a:xfrm>
            <a:off x="9525713" y="1698307"/>
            <a:ext cx="601743" cy="601743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19"/>
          <p:cNvSpPr txBox="1"/>
          <p:nvPr/>
        </p:nvSpPr>
        <p:spPr>
          <a:xfrm>
            <a:off x="6836926" y="2500670"/>
            <a:ext cx="1626159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Ticket → Class</a:t>
            </a:r>
          </a:p>
        </p:txBody>
      </p:sp>
      <p:sp>
        <p:nvSpPr>
          <p:cNvPr id="172" name="Text 20"/>
          <p:cNvSpPr txBox="1"/>
          <p:nvPr/>
        </p:nvSpPr>
        <p:spPr>
          <a:xfrm>
            <a:off x="6836926" y="2976920"/>
            <a:ext cx="436117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M : 1</a:t>
            </a:r>
          </a:p>
        </p:txBody>
      </p:sp>
      <p:sp>
        <p:nvSpPr>
          <p:cNvPr id="173" name="Shape 21"/>
          <p:cNvSpPr/>
          <p:nvPr/>
        </p:nvSpPr>
        <p:spPr>
          <a:xfrm>
            <a:off x="6613565" y="3954898"/>
            <a:ext cx="6426042" cy="1491973"/>
          </a:xfrm>
          <a:prstGeom prst="roundRect">
            <a:avLst>
              <a:gd name="adj" fmla="val 7355"/>
            </a:avLst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Shape 22"/>
          <p:cNvSpPr/>
          <p:nvPr/>
        </p:nvSpPr>
        <p:spPr>
          <a:xfrm>
            <a:off x="6613565" y="3932039"/>
            <a:ext cx="6426042" cy="91441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Shape 23"/>
          <p:cNvSpPr/>
          <p:nvPr/>
        </p:nvSpPr>
        <p:spPr>
          <a:xfrm>
            <a:off x="9525713" y="3654028"/>
            <a:ext cx="601743" cy="601743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24"/>
          <p:cNvSpPr txBox="1"/>
          <p:nvPr/>
        </p:nvSpPr>
        <p:spPr>
          <a:xfrm>
            <a:off x="6836926" y="4456390"/>
            <a:ext cx="1975030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Ticket → Payment</a:t>
            </a:r>
          </a:p>
        </p:txBody>
      </p:sp>
      <p:sp>
        <p:nvSpPr>
          <p:cNvPr id="177" name="Text 25"/>
          <p:cNvSpPr txBox="1"/>
          <p:nvPr/>
        </p:nvSpPr>
        <p:spPr>
          <a:xfrm>
            <a:off x="6836926" y="4932640"/>
            <a:ext cx="383376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1 :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 txBox="1"/>
          <p:nvPr/>
        </p:nvSpPr>
        <p:spPr>
          <a:xfrm>
            <a:off x="3137416" y="500062"/>
            <a:ext cx="3517826" cy="447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600"/>
              </a:lnSpc>
              <a:defRPr sz="2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Schema / SQL Design</a:t>
            </a:r>
          </a:p>
        </p:txBody>
      </p:sp>
      <p:sp>
        <p:nvSpPr>
          <p:cNvPr id="180" name="Text 1"/>
          <p:cNvSpPr txBox="1"/>
          <p:nvPr/>
        </p:nvSpPr>
        <p:spPr>
          <a:xfrm>
            <a:off x="3137415" y="1132165"/>
            <a:ext cx="3161749" cy="176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Sample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CREATE TABLE</a:t>
            </a:r>
            <a:r>
              <a:t> statements for key tables:</a:t>
            </a:r>
          </a:p>
        </p:txBody>
      </p:sp>
      <p:sp>
        <p:nvSpPr>
          <p:cNvPr id="181" name="Shape 2"/>
          <p:cNvSpPr/>
          <p:nvPr/>
        </p:nvSpPr>
        <p:spPr>
          <a:xfrm>
            <a:off x="3137416" y="1424464"/>
            <a:ext cx="8355569" cy="1413986"/>
          </a:xfrm>
          <a:prstGeom prst="roundRect">
            <a:avLst>
              <a:gd name="adj" fmla="val 4354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Shape 3"/>
          <p:cNvSpPr/>
          <p:nvPr/>
        </p:nvSpPr>
        <p:spPr>
          <a:xfrm>
            <a:off x="3130152" y="1424464"/>
            <a:ext cx="8370095" cy="1413986"/>
          </a:xfrm>
          <a:prstGeom prst="roundRect">
            <a:avLst>
              <a:gd name="adj" fmla="val 1555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4"/>
          <p:cNvSpPr txBox="1"/>
          <p:nvPr/>
        </p:nvSpPr>
        <p:spPr>
          <a:xfrm>
            <a:off x="3313390" y="1571029"/>
            <a:ext cx="8003620" cy="1065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CREATE TABLE USERS (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user_id INT PRIMARY KEY,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name    VARCHAR(100),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dob     DATE,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city    VARCHAR(50)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);</a:t>
            </a:r>
          </a:p>
        </p:txBody>
      </p:sp>
      <p:sp>
        <p:nvSpPr>
          <p:cNvPr id="184" name="Shape 5"/>
          <p:cNvSpPr/>
          <p:nvPr/>
        </p:nvSpPr>
        <p:spPr>
          <a:xfrm>
            <a:off x="3137416" y="2936319"/>
            <a:ext cx="8355569" cy="1974414"/>
          </a:xfrm>
          <a:prstGeom prst="roundRect">
            <a:avLst>
              <a:gd name="adj" fmla="val 3118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6"/>
          <p:cNvSpPr/>
          <p:nvPr/>
        </p:nvSpPr>
        <p:spPr>
          <a:xfrm>
            <a:off x="3130152" y="2936319"/>
            <a:ext cx="8370095" cy="1974414"/>
          </a:xfrm>
          <a:prstGeom prst="roundRect">
            <a:avLst>
              <a:gd name="adj" fmla="val 1114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7"/>
          <p:cNvSpPr txBox="1"/>
          <p:nvPr/>
        </p:nvSpPr>
        <p:spPr>
          <a:xfrm>
            <a:off x="3313390" y="3082885"/>
            <a:ext cx="8003620" cy="1599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CREATE TABLE FLIGHT (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flight_no   INT PRIMARY KEY,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source      VARCHAR(50),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destination VARCHAR(50),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dep_time    TIME,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arr_time    TIME,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airline_id  INT,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FOREIGN KEY (airline_id) REFERENCES AIRLINE(airline_id)</a:t>
            </a:r>
          </a:p>
          <a:p>
            <a:pPr>
              <a:lnSpc>
                <a:spcPts val="1400"/>
              </a:lnSpc>
              <a:defRPr sz="1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);</a:t>
            </a:r>
          </a:p>
        </p:txBody>
      </p:sp>
      <p:sp>
        <p:nvSpPr>
          <p:cNvPr id="187" name="Shape 8"/>
          <p:cNvSpPr/>
          <p:nvPr/>
        </p:nvSpPr>
        <p:spPr>
          <a:xfrm>
            <a:off x="3137416" y="5008602"/>
            <a:ext cx="8355569" cy="2161223"/>
          </a:xfrm>
          <a:prstGeom prst="roundRect">
            <a:avLst>
              <a:gd name="adj" fmla="val 2849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Shape 9"/>
          <p:cNvSpPr/>
          <p:nvPr/>
        </p:nvSpPr>
        <p:spPr>
          <a:xfrm>
            <a:off x="3130152" y="5008602"/>
            <a:ext cx="8370095" cy="2161223"/>
          </a:xfrm>
          <a:prstGeom prst="roundRect">
            <a:avLst>
              <a:gd name="adj" fmla="val 1017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10"/>
          <p:cNvSpPr txBox="1"/>
          <p:nvPr/>
        </p:nvSpPr>
        <p:spPr>
          <a:xfrm>
            <a:off x="3313390" y="5155167"/>
            <a:ext cx="8003620" cy="1776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CREATE TABLE TICKET (</a:t>
            </a:r>
          </a:p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pnr_no    INT PRIMARY KEY,</a:t>
            </a:r>
          </a:p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user_id   INT,</a:t>
            </a:r>
          </a:p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flight_no INT,</a:t>
            </a:r>
          </a:p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class_id  INT,</a:t>
            </a:r>
          </a:p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seat_no   VARCHAR(10),</a:t>
            </a:r>
          </a:p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status    VARCHAR(20),</a:t>
            </a:r>
          </a:p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FOREIGN KEY (user_id)   REFERENCES USERS(user_id),</a:t>
            </a:r>
          </a:p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FOREIGN KEY (flight_no) REFERENCES FLIGHT(flight_no)</a:t>
            </a:r>
          </a:p>
          <a:p>
            <a:pPr>
              <a:lnSpc>
                <a:spcPts val="1400"/>
              </a:lnSpc>
              <a:defRPr sz="11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);</a:t>
            </a:r>
          </a:p>
        </p:txBody>
      </p:sp>
      <p:sp>
        <p:nvSpPr>
          <p:cNvPr id="190" name="Shape 11"/>
          <p:cNvSpPr/>
          <p:nvPr/>
        </p:nvSpPr>
        <p:spPr>
          <a:xfrm>
            <a:off x="3137416" y="7267694"/>
            <a:ext cx="8355569" cy="461844"/>
          </a:xfrm>
          <a:prstGeom prst="roundRect">
            <a:avLst>
              <a:gd name="adj" fmla="val 13331"/>
            </a:avLst>
          </a:prstGeom>
          <a:solidFill>
            <a:srgbClr val="B6D6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9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83982" y="7459622"/>
            <a:ext cx="183238" cy="146567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ext 12"/>
          <p:cNvSpPr txBox="1"/>
          <p:nvPr/>
        </p:nvSpPr>
        <p:spPr>
          <a:xfrm>
            <a:off x="3613784" y="7391280"/>
            <a:ext cx="5192106" cy="174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11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Tables are connected using primary keys and foreign keys to maintain relationships.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 txBox="1"/>
          <p:nvPr/>
        </p:nvSpPr>
        <p:spPr>
          <a:xfrm>
            <a:off x="1839286" y="786437"/>
            <a:ext cx="2128088" cy="460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700"/>
              </a:lnSpc>
              <a:defRPr sz="29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SQL Queries</a:t>
            </a:r>
          </a:p>
        </p:txBody>
      </p:sp>
      <p:sp>
        <p:nvSpPr>
          <p:cNvPr id="195" name="Shape 1"/>
          <p:cNvSpPr/>
          <p:nvPr/>
        </p:nvSpPr>
        <p:spPr>
          <a:xfrm>
            <a:off x="864036" y="1997273"/>
            <a:ext cx="6327697" cy="2619138"/>
          </a:xfrm>
          <a:prstGeom prst="roundRect">
            <a:avLst>
              <a:gd name="adj" fmla="val 395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Shape 2"/>
          <p:cNvSpPr/>
          <p:nvPr/>
        </p:nvSpPr>
        <p:spPr>
          <a:xfrm>
            <a:off x="894517" y="2027752"/>
            <a:ext cx="6266737" cy="740570"/>
          </a:xfrm>
          <a:prstGeom prst="roundRect">
            <a:avLst>
              <a:gd name="adj" fmla="val 9063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3"/>
          <p:cNvSpPr txBox="1"/>
          <p:nvPr/>
        </p:nvSpPr>
        <p:spPr>
          <a:xfrm>
            <a:off x="3842742" y="2158960"/>
            <a:ext cx="217532" cy="379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8" name="Text 4"/>
          <p:cNvSpPr txBox="1"/>
          <p:nvPr/>
        </p:nvSpPr>
        <p:spPr>
          <a:xfrm>
            <a:off x="1141333" y="3015139"/>
            <a:ext cx="1198414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SELECT</a:t>
            </a:r>
          </a:p>
        </p:txBody>
      </p:sp>
      <p:sp>
        <p:nvSpPr>
          <p:cNvPr id="199" name="Text 5"/>
          <p:cNvSpPr txBox="1"/>
          <p:nvPr/>
        </p:nvSpPr>
        <p:spPr>
          <a:xfrm>
            <a:off x="1141333" y="3549015"/>
            <a:ext cx="5773104" cy="764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Retrieve flight details based on source and destination.</a:t>
            </a:r>
          </a:p>
        </p:txBody>
      </p:sp>
      <p:sp>
        <p:nvSpPr>
          <p:cNvPr id="200" name="Shape 6"/>
          <p:cNvSpPr/>
          <p:nvPr/>
        </p:nvSpPr>
        <p:spPr>
          <a:xfrm>
            <a:off x="7438549" y="1997273"/>
            <a:ext cx="6327815" cy="2619138"/>
          </a:xfrm>
          <a:prstGeom prst="roundRect">
            <a:avLst>
              <a:gd name="adj" fmla="val 395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Shape 7"/>
          <p:cNvSpPr/>
          <p:nvPr/>
        </p:nvSpPr>
        <p:spPr>
          <a:xfrm>
            <a:off x="7469029" y="2027752"/>
            <a:ext cx="6266856" cy="740570"/>
          </a:xfrm>
          <a:prstGeom prst="roundRect">
            <a:avLst>
              <a:gd name="adj" fmla="val 9063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8"/>
          <p:cNvSpPr txBox="1"/>
          <p:nvPr/>
        </p:nvSpPr>
        <p:spPr>
          <a:xfrm>
            <a:off x="10417254" y="2158960"/>
            <a:ext cx="217531" cy="379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03" name="Text 9"/>
          <p:cNvSpPr txBox="1"/>
          <p:nvPr/>
        </p:nvSpPr>
        <p:spPr>
          <a:xfrm>
            <a:off x="7715845" y="3015139"/>
            <a:ext cx="706984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JOIN</a:t>
            </a:r>
          </a:p>
        </p:txBody>
      </p:sp>
      <p:sp>
        <p:nvSpPr>
          <p:cNvPr id="204" name="Text 10"/>
          <p:cNvSpPr txBox="1"/>
          <p:nvPr/>
        </p:nvSpPr>
        <p:spPr>
          <a:xfrm>
            <a:off x="7715845" y="3549015"/>
            <a:ext cx="5773223" cy="764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Combine User, Ticket, and Flight tables to get booking details.</a:t>
            </a:r>
          </a:p>
        </p:txBody>
      </p:sp>
      <p:sp>
        <p:nvSpPr>
          <p:cNvPr id="205" name="Shape 11"/>
          <p:cNvSpPr/>
          <p:nvPr/>
        </p:nvSpPr>
        <p:spPr>
          <a:xfrm>
            <a:off x="864036" y="4863227"/>
            <a:ext cx="6327697" cy="2634378"/>
          </a:xfrm>
          <a:prstGeom prst="roundRect">
            <a:avLst>
              <a:gd name="adj" fmla="val 393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12"/>
          <p:cNvSpPr/>
          <p:nvPr/>
        </p:nvSpPr>
        <p:spPr>
          <a:xfrm>
            <a:off x="894517" y="4893707"/>
            <a:ext cx="6266737" cy="740570"/>
          </a:xfrm>
          <a:prstGeom prst="roundRect">
            <a:avLst>
              <a:gd name="adj" fmla="val 9063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13"/>
          <p:cNvSpPr txBox="1"/>
          <p:nvPr/>
        </p:nvSpPr>
        <p:spPr>
          <a:xfrm>
            <a:off x="3842742" y="5024913"/>
            <a:ext cx="217532" cy="379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8" name="Text 14"/>
          <p:cNvSpPr txBox="1"/>
          <p:nvPr/>
        </p:nvSpPr>
        <p:spPr>
          <a:xfrm>
            <a:off x="1141333" y="5881092"/>
            <a:ext cx="1920975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AGGREGATE</a:t>
            </a:r>
          </a:p>
        </p:txBody>
      </p:sp>
      <p:sp>
        <p:nvSpPr>
          <p:cNvPr id="209" name="Text 15"/>
          <p:cNvSpPr txBox="1"/>
          <p:nvPr/>
        </p:nvSpPr>
        <p:spPr>
          <a:xfrm>
            <a:off x="1141333" y="6414968"/>
            <a:ext cx="5773104" cy="374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100"/>
              </a:lnSpc>
              <a:defRPr sz="1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COUNT</a:t>
            </a:r>
            <a:r>
              <a:rPr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t>SUM</a:t>
            </a:r>
            <a:r>
              <a:rPr>
                <a:latin typeface="Roboto"/>
                <a:ea typeface="Roboto"/>
                <a:cs typeface="Roboto"/>
                <a:sym typeface="Roboto"/>
              </a:rPr>
              <a:t> used for total bookings and revenue.</a:t>
            </a:r>
          </a:p>
        </p:txBody>
      </p:sp>
      <p:sp>
        <p:nvSpPr>
          <p:cNvPr id="210" name="Shape 16"/>
          <p:cNvSpPr/>
          <p:nvPr/>
        </p:nvSpPr>
        <p:spPr>
          <a:xfrm>
            <a:off x="7438549" y="4863227"/>
            <a:ext cx="6327815" cy="2634378"/>
          </a:xfrm>
          <a:prstGeom prst="roundRect">
            <a:avLst>
              <a:gd name="adj" fmla="val 393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Shape 17"/>
          <p:cNvSpPr/>
          <p:nvPr/>
        </p:nvSpPr>
        <p:spPr>
          <a:xfrm>
            <a:off x="7469029" y="4893707"/>
            <a:ext cx="6266856" cy="740570"/>
          </a:xfrm>
          <a:prstGeom prst="roundRect">
            <a:avLst>
              <a:gd name="adj" fmla="val 9063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18"/>
          <p:cNvSpPr txBox="1"/>
          <p:nvPr/>
        </p:nvSpPr>
        <p:spPr>
          <a:xfrm>
            <a:off x="10417254" y="5024913"/>
            <a:ext cx="217531" cy="379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9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13" name="Text 19"/>
          <p:cNvSpPr txBox="1"/>
          <p:nvPr/>
        </p:nvSpPr>
        <p:spPr>
          <a:xfrm>
            <a:off x="7715845" y="5881092"/>
            <a:ext cx="1717973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SUBQUERY</a:t>
            </a:r>
          </a:p>
        </p:txBody>
      </p:sp>
      <p:sp>
        <p:nvSpPr>
          <p:cNvPr id="214" name="Text 20"/>
          <p:cNvSpPr txBox="1"/>
          <p:nvPr/>
        </p:nvSpPr>
        <p:spPr>
          <a:xfrm>
            <a:off x="7715845" y="6414968"/>
            <a:ext cx="5773223" cy="370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Used to find specific filtered data from nested queries.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 txBox="1"/>
          <p:nvPr/>
        </p:nvSpPr>
        <p:spPr>
          <a:xfrm>
            <a:off x="850582" y="708541"/>
            <a:ext cx="3661719" cy="736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900"/>
              </a:lnSpc>
              <a:defRPr sz="47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Normalisation</a:t>
            </a:r>
          </a:p>
        </p:txBody>
      </p:sp>
      <p:sp>
        <p:nvSpPr>
          <p:cNvPr id="217" name="Text 1"/>
          <p:cNvSpPr txBox="1"/>
          <p:nvPr/>
        </p:nvSpPr>
        <p:spPr>
          <a:xfrm>
            <a:off x="850583" y="1946314"/>
            <a:ext cx="6570217" cy="360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30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The database is normalised up to </a:t>
            </a:r>
            <a:r>
              <a:rPr b="1"/>
              <a:t>Third Normal Form (3NF)</a:t>
            </a:r>
            <a:r>
              <a:t>.</a:t>
            </a:r>
          </a:p>
        </p:txBody>
      </p:sp>
      <p:sp>
        <p:nvSpPr>
          <p:cNvPr id="218" name="Shape 2"/>
          <p:cNvSpPr/>
          <p:nvPr/>
        </p:nvSpPr>
        <p:spPr>
          <a:xfrm>
            <a:off x="1215033" y="3573184"/>
            <a:ext cx="3785712" cy="243008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762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Shape 3"/>
          <p:cNvSpPr/>
          <p:nvPr/>
        </p:nvSpPr>
        <p:spPr>
          <a:xfrm>
            <a:off x="850582" y="3330118"/>
            <a:ext cx="729021" cy="72902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762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2866" y="3512403"/>
            <a:ext cx="364451" cy="364451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4"/>
          <p:cNvSpPr txBox="1"/>
          <p:nvPr/>
        </p:nvSpPr>
        <p:spPr>
          <a:xfrm>
            <a:off x="1093588" y="4298393"/>
            <a:ext cx="564525" cy="3618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3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1NF</a:t>
            </a:r>
          </a:p>
        </p:txBody>
      </p:sp>
      <p:sp>
        <p:nvSpPr>
          <p:cNvPr id="222" name="Text 5"/>
          <p:cNvSpPr txBox="1"/>
          <p:nvPr/>
        </p:nvSpPr>
        <p:spPr>
          <a:xfrm>
            <a:off x="1093588" y="4821673"/>
            <a:ext cx="3664269" cy="1122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0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Phone numbers stored in a separate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USER_PHONE</a:t>
            </a:r>
            <a:r>
              <a:t> table — no repeating groups.</a:t>
            </a:r>
          </a:p>
        </p:txBody>
      </p:sp>
      <p:sp>
        <p:nvSpPr>
          <p:cNvPr id="223" name="Shape 6"/>
          <p:cNvSpPr/>
          <p:nvPr/>
        </p:nvSpPr>
        <p:spPr>
          <a:xfrm>
            <a:off x="5604509" y="3208615"/>
            <a:ext cx="3785713" cy="243007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762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Shape 7"/>
          <p:cNvSpPr/>
          <p:nvPr/>
        </p:nvSpPr>
        <p:spPr>
          <a:xfrm>
            <a:off x="5240059" y="2965549"/>
            <a:ext cx="729021" cy="72902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762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25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22343" y="3147834"/>
            <a:ext cx="364451" cy="364451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ext 8"/>
          <p:cNvSpPr txBox="1"/>
          <p:nvPr/>
        </p:nvSpPr>
        <p:spPr>
          <a:xfrm>
            <a:off x="5483066" y="3933825"/>
            <a:ext cx="564524" cy="361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3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2NF</a:t>
            </a:r>
          </a:p>
        </p:txBody>
      </p:sp>
      <p:sp>
        <p:nvSpPr>
          <p:cNvPr id="227" name="Text 9"/>
          <p:cNvSpPr txBox="1"/>
          <p:nvPr/>
        </p:nvSpPr>
        <p:spPr>
          <a:xfrm>
            <a:off x="5483066" y="4457105"/>
            <a:ext cx="3664268" cy="741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User, Flight, and Ticket separated to remove partial dependency.</a:t>
            </a:r>
          </a:p>
        </p:txBody>
      </p:sp>
      <p:sp>
        <p:nvSpPr>
          <p:cNvPr id="228" name="Shape 10"/>
          <p:cNvSpPr/>
          <p:nvPr/>
        </p:nvSpPr>
        <p:spPr>
          <a:xfrm>
            <a:off x="9993986" y="2844164"/>
            <a:ext cx="3785713" cy="243008"/>
          </a:xfrm>
          <a:prstGeom prst="roundRect">
            <a:avLst>
              <a:gd name="adj" fmla="val 42004"/>
            </a:avLst>
          </a:prstGeom>
          <a:solidFill>
            <a:srgbClr val="E1E1EA"/>
          </a:solidFill>
          <a:ln w="762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Shape 11"/>
          <p:cNvSpPr/>
          <p:nvPr/>
        </p:nvSpPr>
        <p:spPr>
          <a:xfrm>
            <a:off x="9629537" y="2601098"/>
            <a:ext cx="729021" cy="729021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762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30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1822" y="2783383"/>
            <a:ext cx="364451" cy="364451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 12"/>
          <p:cNvSpPr txBox="1"/>
          <p:nvPr/>
        </p:nvSpPr>
        <p:spPr>
          <a:xfrm>
            <a:off x="9872543" y="3569375"/>
            <a:ext cx="564524" cy="361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3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3NF</a:t>
            </a:r>
          </a:p>
        </p:txBody>
      </p:sp>
      <p:sp>
        <p:nvSpPr>
          <p:cNvPr id="232" name="Text 13"/>
          <p:cNvSpPr txBox="1"/>
          <p:nvPr/>
        </p:nvSpPr>
        <p:spPr>
          <a:xfrm>
            <a:off x="9872543" y="4092654"/>
            <a:ext cx="3664268" cy="1122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Airline, Class, and Payment stored separately to remove transitive redundancy.</a:t>
            </a:r>
          </a:p>
        </p:txBody>
      </p:sp>
      <p:sp>
        <p:nvSpPr>
          <p:cNvPr id="233" name="Shape 14"/>
          <p:cNvSpPr/>
          <p:nvPr/>
        </p:nvSpPr>
        <p:spPr>
          <a:xfrm>
            <a:off x="850582" y="6498668"/>
            <a:ext cx="12929236" cy="1022391"/>
          </a:xfrm>
          <a:prstGeom prst="roundRect">
            <a:avLst>
              <a:gd name="adj" fmla="val 9984"/>
            </a:avLst>
          </a:prstGeom>
          <a:solidFill>
            <a:srgbClr val="B6FCB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4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3588" y="6864071"/>
            <a:ext cx="303729" cy="243008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Text 15"/>
          <p:cNvSpPr txBox="1"/>
          <p:nvPr/>
        </p:nvSpPr>
        <p:spPr>
          <a:xfrm>
            <a:off x="1640323" y="6798588"/>
            <a:ext cx="8784569" cy="360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19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Foreign keys are used throughout to maintain referential integrity across all tables.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67349" y="621624"/>
            <a:ext cx="5239583" cy="6986232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ext 1"/>
          <p:cNvSpPr txBox="1"/>
          <p:nvPr/>
        </p:nvSpPr>
        <p:spPr>
          <a:xfrm>
            <a:off x="864036" y="937021"/>
            <a:ext cx="3028555" cy="749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6000"/>
              </a:lnSpc>
              <a:defRPr sz="4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40" name="Shape 2"/>
          <p:cNvSpPr/>
          <p:nvPr/>
        </p:nvSpPr>
        <p:spPr>
          <a:xfrm>
            <a:off x="864036" y="2078831"/>
            <a:ext cx="555428" cy="55542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1524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3"/>
          <p:cNvSpPr txBox="1"/>
          <p:nvPr/>
        </p:nvSpPr>
        <p:spPr>
          <a:xfrm>
            <a:off x="1666280" y="2163603"/>
            <a:ext cx="4021684" cy="37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Well-Structured &amp; Normalised</a:t>
            </a:r>
          </a:p>
        </p:txBody>
      </p:sp>
      <p:sp>
        <p:nvSpPr>
          <p:cNvPr id="242" name="Text 4"/>
          <p:cNvSpPr txBox="1"/>
          <p:nvPr/>
        </p:nvSpPr>
        <p:spPr>
          <a:xfrm>
            <a:off x="1666280" y="2697479"/>
            <a:ext cx="6613684" cy="764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The system follows a clean relational design normalised up to 3NF.</a:t>
            </a:r>
          </a:p>
        </p:txBody>
      </p:sp>
      <p:sp>
        <p:nvSpPr>
          <p:cNvPr id="243" name="Shape 5"/>
          <p:cNvSpPr/>
          <p:nvPr/>
        </p:nvSpPr>
        <p:spPr>
          <a:xfrm>
            <a:off x="864036" y="3981331"/>
            <a:ext cx="555428" cy="55542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1524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6"/>
          <p:cNvSpPr txBox="1"/>
          <p:nvPr/>
        </p:nvSpPr>
        <p:spPr>
          <a:xfrm>
            <a:off x="1666280" y="4066102"/>
            <a:ext cx="2858890" cy="37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Minimal Redundancy</a:t>
            </a:r>
          </a:p>
        </p:txBody>
      </p:sp>
      <p:sp>
        <p:nvSpPr>
          <p:cNvPr id="245" name="Text 7"/>
          <p:cNvSpPr txBox="1"/>
          <p:nvPr/>
        </p:nvSpPr>
        <p:spPr>
          <a:xfrm>
            <a:off x="1666280" y="4599980"/>
            <a:ext cx="6613684" cy="764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Data integrity is maintained through proper use of keys and separate tables.</a:t>
            </a:r>
          </a:p>
        </p:txBody>
      </p:sp>
      <p:sp>
        <p:nvSpPr>
          <p:cNvPr id="246" name="Shape 8"/>
          <p:cNvSpPr/>
          <p:nvPr/>
        </p:nvSpPr>
        <p:spPr>
          <a:xfrm>
            <a:off x="864036" y="5883831"/>
            <a:ext cx="555428" cy="555428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15240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9"/>
          <p:cNvSpPr txBox="1"/>
          <p:nvPr/>
        </p:nvSpPr>
        <p:spPr>
          <a:xfrm>
            <a:off x="1666280" y="5968603"/>
            <a:ext cx="3090764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Real-World Application</a:t>
            </a:r>
          </a:p>
        </p:txBody>
      </p:sp>
      <p:sp>
        <p:nvSpPr>
          <p:cNvPr id="248" name="Text 10"/>
          <p:cNvSpPr txBox="1"/>
          <p:nvPr/>
        </p:nvSpPr>
        <p:spPr>
          <a:xfrm>
            <a:off x="1666280" y="6502479"/>
            <a:ext cx="6613684" cy="764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100"/>
              </a:lnSpc>
              <a:defRPr sz="1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Demonstrates practical DBMS implementation for an airline booking scenario.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